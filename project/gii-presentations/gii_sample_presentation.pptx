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98A3"/>
    <a:srgbClr val="00CADF"/>
    <a:srgbClr val="CA00DF"/>
    <a:srgbClr val="0065D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07" d="100"/>
          <a:sy n="107" d="100"/>
        </p:scale>
        <p:origin x="636" y="1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5/5/2023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“Title and Content” slide with a bullet list.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“Title and Content” slide with a plot.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“Blank” slide.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“Two Content” slide.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“Comparison” slide.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“Content with Caption” slide.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“Title and Content” slide with a background image. It is not a distinct slide layout.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2608" y="292608"/>
            <a:ext cx="10515600" cy="1325880"/>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292608" y="4142232"/>
            <a:ext cx="8534400" cy="1755648"/>
          </a:xfrm>
        </p:spPr>
        <p:txBody>
          <a:bodyPr>
            <a:normAutofit/>
          </a:bodyPr>
          <a:lstStyle>
            <a:lvl1pPr marL="0" indent="0" algn="l">
              <a:lnSpc>
                <a:spcPct val="150000"/>
              </a:lnSpc>
              <a:buNone/>
              <a:defRPr sz="2000">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4443575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normAutofit/>
          </a:bodyPr>
          <a:lstStyle>
            <a:lvl1pPr algn="l">
              <a:defRPr sz="3600" b="1" cap="all"/>
            </a:lvl1pPr>
          </a:lstStyle>
          <a:p>
            <a:r>
              <a:rPr lang="en-US" dirty="0"/>
              <a:t>Click to edit Master title style</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41248" y="1828800"/>
            <a:ext cx="5212080" cy="4352544"/>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8800"/>
            <a:ext cx="5212080" cy="4352544"/>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41248" y="1828800"/>
            <a:ext cx="5212080"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41248" y="2468880"/>
            <a:ext cx="5212080" cy="36576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828800"/>
            <a:ext cx="5212080"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468880"/>
            <a:ext cx="5212080" cy="36576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t"/>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10312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2608" y="292608"/>
            <a:ext cx="10515600" cy="1325880"/>
          </a:xfrm>
          <a:prstGeom prst="rect">
            <a:avLst/>
          </a:prstGeom>
          <a:noFill/>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841248" y="1828800"/>
            <a:ext cx="10515600" cy="43525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041648" y="6227064"/>
            <a:ext cx="4114800" cy="365125"/>
          </a:xfrm>
          <a:prstGeom prst="rect">
            <a:avLst/>
          </a:prstGeom>
        </p:spPr>
        <p:txBody>
          <a:bodyPr vert="horz" lIns="91440" tIns="45720" rIns="91440" bIns="45720" rtlCol="0" anchor="b" anchorCtr="0"/>
          <a:lstStyle>
            <a:lvl1pPr algn="ctr">
              <a:defRPr sz="1000">
                <a:solidFill>
                  <a:schemeClr val="tx1">
                    <a:tint val="75000"/>
                  </a:schemeClr>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endParaRPr lang="en-US"/>
          </a:p>
        </p:txBody>
      </p:sp>
      <p:sp>
        <p:nvSpPr>
          <p:cNvPr id="6" name="Slide Number Placeholder 5"/>
          <p:cNvSpPr>
            <a:spLocks noGrp="1"/>
          </p:cNvSpPr>
          <p:nvPr>
            <p:ph type="sldNum" sz="quarter" idx="4"/>
          </p:nvPr>
        </p:nvSpPr>
        <p:spPr>
          <a:xfrm>
            <a:off x="841248" y="6227064"/>
            <a:ext cx="2743200" cy="365125"/>
          </a:xfrm>
          <a:prstGeom prst="rect">
            <a:avLst/>
          </a:prstGeom>
        </p:spPr>
        <p:txBody>
          <a:bodyPr vert="horz" lIns="91440" tIns="45720" rIns="91440" bIns="45720" rtlCol="0" anchor="b" anchorCtr="0"/>
          <a:lstStyle>
            <a:lvl1pPr algn="l">
              <a:defRPr sz="1200">
                <a:solidFill>
                  <a:schemeClr val="tx1">
                    <a:tint val="75000"/>
                  </a:schemeClr>
                </a:solidFill>
              </a:defRPr>
            </a:lvl1pPr>
          </a:lstStyle>
          <a:p>
            <a:fld id="{C5EF2332-01BF-834F-8236-50238282D533}" type="slidenum">
              <a:rPr lang="en-US" smtClean="0"/>
              <a:pPr/>
              <a:t>‹#›</a:t>
            </a:fld>
            <a:endParaRPr lang="en-US"/>
          </a:p>
        </p:txBody>
      </p:sp>
      <p:pic>
        <p:nvPicPr>
          <p:cNvPr id="9" name="GII22 Logo Placeholder 7" descr="Une image contenant lunettes  Description générée automatiquement">
            <a:extLst>
              <a:ext uri="{FF2B5EF4-FFF2-40B4-BE49-F238E27FC236}">
                <a16:creationId xmlns:a16="http://schemas.microsoft.com/office/drawing/2014/main" id="{DD153DFA-7DD3-8ECE-85A1-03D6B9EA560A}"/>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1065893" y="6133"/>
            <a:ext cx="1009462" cy="1021773"/>
          </a:xfrm>
          <a:prstGeom prst="rect">
            <a:avLst/>
          </a:prstGeom>
        </p:spPr>
      </p:pic>
      <p:pic>
        <p:nvPicPr>
          <p:cNvPr id="11" name="WIPO Logo Placeholder 8">
            <a:extLst>
              <a:ext uri="{FF2B5EF4-FFF2-40B4-BE49-F238E27FC236}">
                <a16:creationId xmlns:a16="http://schemas.microsoft.com/office/drawing/2014/main" id="{33001F01-637B-0EF4-D84A-5F5DA37DE33A}"/>
              </a:ext>
            </a:extLst>
          </p:cNvPr>
          <p:cNvPicPr>
            <a:picLocks noChangeAspect="1"/>
          </p:cNvPicPr>
          <p:nvPr userDrawn="1"/>
        </p:nvPicPr>
        <p:blipFill>
          <a:blip r:embed="rId14"/>
          <a:stretch>
            <a:fillRect/>
          </a:stretch>
        </p:blipFill>
        <p:spPr>
          <a:xfrm>
            <a:off x="11003797" y="6439185"/>
            <a:ext cx="916550" cy="189302"/>
          </a:xfrm>
          <a:prstGeom prst="rect">
            <a:avLst/>
          </a:prstGeom>
        </p:spPr>
      </p:pic>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189" rtl="0" eaLnBrk="1" latinLnBrk="0" hangingPunct="1">
        <a:spcBef>
          <a:spcPct val="0"/>
        </a:spcBef>
        <a:buNone/>
        <a:defRPr sz="3200" kern="1200">
          <a:solidFill>
            <a:srgbClr val="0065DF"/>
          </a:solidFill>
          <a:latin typeface="Noto Sans Display Medium" panose="020B0502040504020204" pitchFamily="34" charset="0"/>
          <a:ea typeface="Noto Sans Display Medium" panose="020B0502040504020204" pitchFamily="34" charset="0"/>
          <a:cs typeface="Noto Sans Display Medium" panose="020B0502040504020204" pitchFamily="34" charset="0"/>
        </a:defRPr>
      </a:lvl1pPr>
    </p:titleStyle>
    <p:bodyStyle>
      <a:lvl1pPr marL="457189" indent="-457189" algn="l" defTabSz="457189" rtl="0" eaLnBrk="1" latinLnBrk="0" hangingPunct="1">
        <a:spcBef>
          <a:spcPct val="20000"/>
        </a:spcBef>
        <a:buFont typeface="Arial"/>
        <a:buChar char="•"/>
        <a:defRPr sz="2400" kern="1200">
          <a:solidFill>
            <a:schemeClr val="tx1"/>
          </a:solidFill>
          <a:latin typeface="Noto Sans Display" panose="020B0502040504020204" pitchFamily="34" charset="0"/>
          <a:ea typeface="Noto Sans Display" panose="020B0502040504020204" pitchFamily="34" charset="0"/>
          <a:cs typeface="Noto Sans Display" panose="020B0502040504020204" pitchFamily="34" charset="0"/>
        </a:defRPr>
      </a:lvl1pPr>
      <a:lvl2pPr marL="914377" indent="-457189" algn="l" defTabSz="457189" rtl="0" eaLnBrk="1" latinLnBrk="0" hangingPunct="1">
        <a:spcBef>
          <a:spcPct val="20000"/>
        </a:spcBef>
        <a:buFont typeface="Arial"/>
        <a:buChar char="–"/>
        <a:defRPr sz="2000" kern="1200">
          <a:solidFill>
            <a:schemeClr val="tx1"/>
          </a:solidFill>
          <a:latin typeface="Noto Sans Display" panose="020B0502040504020204" pitchFamily="34" charset="0"/>
          <a:ea typeface="Noto Sans Display" panose="020B0502040504020204" pitchFamily="34" charset="0"/>
          <a:cs typeface="Noto Sans Display" panose="020B0502040504020204" pitchFamily="34" charset="0"/>
        </a:defRPr>
      </a:lvl2pPr>
      <a:lvl3pPr marL="1371566" indent="-457189" algn="l" defTabSz="457189" rtl="0" eaLnBrk="1" latinLnBrk="0" hangingPunct="1">
        <a:spcBef>
          <a:spcPct val="20000"/>
        </a:spcBef>
        <a:buFont typeface="Arial"/>
        <a:buChar char="•"/>
        <a:defRPr sz="1800" kern="1200">
          <a:solidFill>
            <a:schemeClr val="tx1"/>
          </a:solidFill>
          <a:latin typeface="Noto Sans Display" panose="020B0502040504020204" pitchFamily="34" charset="0"/>
          <a:ea typeface="Noto Sans Display" panose="020B0502040504020204" pitchFamily="34" charset="0"/>
          <a:cs typeface="Noto Sans Display" panose="020B0502040504020204" pitchFamily="34" charset="0"/>
        </a:defRPr>
      </a:lvl3pPr>
      <a:lvl4pPr marL="1828754" indent="-457189" algn="l" defTabSz="457189" rtl="0" eaLnBrk="1" latinLnBrk="0" hangingPunct="1">
        <a:spcBef>
          <a:spcPct val="20000"/>
        </a:spcBef>
        <a:buFont typeface="Arial"/>
        <a:buChar char="–"/>
        <a:defRPr sz="1600" kern="1200">
          <a:solidFill>
            <a:schemeClr val="tx1"/>
          </a:solidFill>
          <a:latin typeface="Noto Sans Display" panose="020B0502040504020204" pitchFamily="34" charset="0"/>
          <a:ea typeface="Noto Sans Display" panose="020B0502040504020204" pitchFamily="34" charset="0"/>
          <a:cs typeface="Noto Sans Display" panose="020B0502040504020204" pitchFamily="34" charset="0"/>
        </a:defRPr>
      </a:lvl4pPr>
      <a:lvl5pPr marL="2285943" indent="-457189" algn="l" defTabSz="457189" rtl="0" eaLnBrk="1" latinLnBrk="0" hangingPunct="1">
        <a:spcBef>
          <a:spcPct val="20000"/>
        </a:spcBef>
        <a:buFont typeface="Arial"/>
        <a:buChar char="»"/>
        <a:defRPr sz="1600" kern="1200">
          <a:solidFill>
            <a:schemeClr val="tx1"/>
          </a:solidFill>
          <a:latin typeface="Noto Sans Display" panose="020B0502040504020204" pitchFamily="34" charset="0"/>
          <a:ea typeface="Noto Sans Display" panose="020B0502040504020204" pitchFamily="34" charset="0"/>
          <a:cs typeface="Noto Sans Display" panose="020B0502040504020204" pitchFamily="34" charset="0"/>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quarto.org/docs/presentations/powerpoint.html" TargetMode="External"/><Relationship Id="rId2" Type="http://schemas.openxmlformats.org/officeDocument/2006/relationships/hyperlink" Target="https://quarto.org/" TargetMode="External"/><Relationship Id="rId1" Type="http://schemas.openxmlformats.org/officeDocument/2006/relationships/slideLayout" Target="../slideLayouts/slideLayout2.xml"/><Relationship Id="rId4" Type="http://schemas.openxmlformats.org/officeDocument/2006/relationships/hyperlink" Target="https://davidgohel.github.io/officer/index.html"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davidgohel.github.io/officedown/index.html" TargetMode="External"/><Relationship Id="rId3" Type="http://schemas.openxmlformats.org/officeDocument/2006/relationships/hyperlink" Target="https://quarto.org/docs/reference/formats/presentations/pptx.html" TargetMode="External"/><Relationship Id="rId7" Type="http://schemas.openxmlformats.org/officeDocument/2006/relationships/hyperlink" Target="https://ardata-fr.github.io/officeverse/officer-for-powerpoint.html#officer-for-powerpoint" TargetMode="External"/><Relationship Id="rId2" Type="http://schemas.openxmlformats.org/officeDocument/2006/relationships/hyperlink" Target="https://quarto.org/docs/presentations/powerpoint.html" TargetMode="External"/><Relationship Id="rId1" Type="http://schemas.openxmlformats.org/officeDocument/2006/relationships/slideLayout" Target="../slideLayouts/slideLayout2.xml"/><Relationship Id="rId6" Type="http://schemas.openxmlformats.org/officeDocument/2006/relationships/hyperlink" Target="https://ardata-fr.github.io/officeverse/office-documents-generation.html#powerpoint-presentation-properties" TargetMode="External"/><Relationship Id="rId5" Type="http://schemas.openxmlformats.org/officeDocument/2006/relationships/hyperlink" Target="https://ardata-fr.github.io/officeverse/index.html" TargetMode="External"/><Relationship Id="rId4" Type="http://schemas.openxmlformats.org/officeDocument/2006/relationships/hyperlink" Target="https://www.apreshill.com/blog/2021-07-officedow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2608" y="292608"/>
            <a:ext cx="10515600" cy="1325880"/>
          </a:xfrm>
        </p:spPr>
        <p:txBody>
          <a:bodyPr/>
          <a:lstStyle/>
          <a:p>
            <a:pPr marL="0" lvl="0" indent="0">
              <a:buNone/>
            </a:pPr>
            <a:r>
              <a:t>AUSTRALIA</a:t>
            </a:r>
          </a:p>
        </p:txBody>
      </p:sp>
      <p:sp>
        <p:nvSpPr>
          <p:cNvPr id="3" name="Subtitle 2"/>
          <p:cNvSpPr>
            <a:spLocks noGrp="1"/>
          </p:cNvSpPr>
          <p:nvPr>
            <p:ph type="subTitle" idx="1"/>
          </p:nvPr>
        </p:nvSpPr>
        <p:spPr>
          <a:xfrm>
            <a:off x="292608" y="4142232"/>
            <a:ext cx="8534400" cy="1755648"/>
          </a:xfrm>
        </p:spPr>
        <p:txBody>
          <a:bodyPr/>
          <a:lstStyle/>
          <a:p>
            <a:pPr marL="0" lvl="0" indent="0">
              <a:buNone/>
            </a:pPr>
            <a:br/>
            <a:br/>
            <a:r>
              <a:t>Jack Gregory</a:t>
            </a:r>
            <a:br/>
            <a:r>
              <a:t>Economist &amp; Data Scientist</a:t>
            </a:r>
            <a:br/>
            <a:r>
              <a:t>Composite Indicator Research Section, WIPO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p>
            <a:pPr marL="0" lvl="0" indent="0">
              <a:buNone/>
            </a:pPr>
            <a:r>
              <a:t>Instructions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Notes</a:t>
            </a:r>
          </a:p>
        </p:txBody>
      </p:sp>
      <p:sp>
        <p:nvSpPr>
          <p:cNvPr id="3" name="Content Placeholder 2"/>
          <p:cNvSpPr>
            <a:spLocks noGrp="1"/>
          </p:cNvSpPr>
          <p:nvPr>
            <p:ph idx="1"/>
          </p:nvPr>
        </p:nvSpPr>
        <p:spPr/>
        <p:txBody>
          <a:bodyPr/>
          <a:lstStyle/>
          <a:p>
            <a:pPr lvl="0"/>
            <a:r>
              <a:t>This document is a sample </a:t>
            </a:r>
            <a:r>
              <a:rPr>
                <a:hlinkClick r:id="rId2"/>
              </a:rPr>
              <a:t>Quarto</a:t>
            </a:r>
            <a:r>
              <a:t> </a:t>
            </a:r>
            <a:r>
              <a:rPr>
                <a:hlinkClick r:id="rId3"/>
              </a:rPr>
              <a:t>pptx</a:t>
            </a:r>
            <a:r>
              <a:t>.</a:t>
            </a:r>
          </a:p>
          <a:p>
            <a:pPr lvl="0"/>
            <a:r>
              <a:t>It includes all the material from the GII briefs unedited:</a:t>
            </a:r>
          </a:p>
          <a:p>
            <a:pPr lvl="1"/>
            <a:r>
              <a:t>The preamble is uncommented and runs prior to the “Instructions” section; while,</a:t>
            </a:r>
          </a:p>
          <a:p>
            <a:pPr lvl="1"/>
            <a:r>
              <a:t>The body is partially commented and appears after the “Example Slides” section below.</a:t>
            </a:r>
          </a:p>
          <a:p>
            <a:pPr lvl="0"/>
            <a:r>
              <a:t>The remainder of this section:</a:t>
            </a:r>
          </a:p>
          <a:p>
            <a:pPr lvl="1"/>
            <a:r>
              <a:t>Provides some references; and,</a:t>
            </a:r>
          </a:p>
          <a:p>
            <a:pPr lvl="1"/>
            <a:r>
              <a:t>Describes some useful </a:t>
            </a:r>
            <a:r>
              <a:rPr>
                <a:hlinkClick r:id="rId4"/>
              </a:rPr>
              <a:t>officer</a:t>
            </a:r>
            <a:r>
              <a:t> functions in relation to the template.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References</a:t>
            </a:r>
          </a:p>
        </p:txBody>
      </p:sp>
      <p:sp>
        <p:nvSpPr>
          <p:cNvPr id="3" name="Content Placeholder 2"/>
          <p:cNvSpPr>
            <a:spLocks noGrp="1"/>
          </p:cNvSpPr>
          <p:nvPr>
            <p:ph idx="1"/>
          </p:nvPr>
        </p:nvSpPr>
        <p:spPr/>
        <p:txBody>
          <a:bodyPr>
            <a:noAutofit/>
          </a:bodyPr>
          <a:lstStyle/>
          <a:p>
            <a:pPr lvl="0"/>
            <a:r>
              <a:rPr sz="2000" dirty="0"/>
              <a:t>Knitting Quarto (or </a:t>
            </a:r>
            <a:r>
              <a:rPr sz="2000" dirty="0" err="1"/>
              <a:t>Rmarkdown</a:t>
            </a:r>
            <a:r>
              <a:rPr sz="2000" dirty="0"/>
              <a:t>) into MS PowerPoint can be quite idiosyncratic.</a:t>
            </a:r>
          </a:p>
          <a:p>
            <a:pPr lvl="0"/>
            <a:r>
              <a:rPr sz="2000" dirty="0"/>
              <a:t>Be prepared for unexpected </a:t>
            </a:r>
            <a:r>
              <a:rPr sz="2000" dirty="0" err="1"/>
              <a:t>behaviours</a:t>
            </a:r>
            <a:r>
              <a:rPr sz="2000" dirty="0"/>
              <a:t> and the need to edit your work post-compiling.</a:t>
            </a:r>
          </a:p>
          <a:p>
            <a:pPr lvl="0"/>
            <a:r>
              <a:rPr sz="2000" dirty="0"/>
              <a:t>Prior to editing the </a:t>
            </a:r>
            <a:r>
              <a:rPr sz="2000" dirty="0" err="1"/>
              <a:t>Qmd</a:t>
            </a:r>
            <a:r>
              <a:rPr sz="2000" dirty="0"/>
              <a:t> file, I would highly recommend consulting the following Quarto references:</a:t>
            </a:r>
          </a:p>
          <a:p>
            <a:pPr lvl="1"/>
            <a:r>
              <a:rPr sz="1800" dirty="0">
                <a:hlinkClick r:id="rId2"/>
              </a:rPr>
              <a:t>Quarto PowerPoint User Guide</a:t>
            </a:r>
          </a:p>
          <a:p>
            <a:pPr lvl="1"/>
            <a:r>
              <a:rPr sz="1800" dirty="0">
                <a:hlinkClick r:id="rId3"/>
              </a:rPr>
              <a:t>Quarto PowerPoint Options</a:t>
            </a:r>
          </a:p>
          <a:p>
            <a:pPr lvl="0"/>
            <a:r>
              <a:rPr sz="2000" dirty="0"/>
              <a:t>Some references on </a:t>
            </a:r>
            <a:r>
              <a:rPr sz="2000" dirty="0" err="1"/>
              <a:t>Rmd</a:t>
            </a:r>
            <a:r>
              <a:rPr sz="2000" dirty="0"/>
              <a:t> and pptx are listed below:</a:t>
            </a:r>
          </a:p>
          <a:p>
            <a:pPr lvl="1"/>
            <a:r>
              <a:rPr sz="1800" dirty="0">
                <a:hlinkClick r:id="rId4"/>
              </a:rPr>
              <a:t>Up and running with </a:t>
            </a:r>
            <a:r>
              <a:rPr sz="1800" dirty="0" err="1">
                <a:hlinkClick r:id="rId4"/>
              </a:rPr>
              <a:t>officedown</a:t>
            </a:r>
            <a:endParaRPr sz="1800" dirty="0">
              <a:hlinkClick r:id="rId4"/>
            </a:endParaRPr>
          </a:p>
          <a:p>
            <a:pPr lvl="1"/>
            <a:r>
              <a:rPr sz="1800" dirty="0" err="1">
                <a:hlinkClick r:id="rId5"/>
              </a:rPr>
              <a:t>Officeverse</a:t>
            </a:r>
            <a:r>
              <a:rPr sz="1800" dirty="0">
                <a:hlinkClick r:id="rId5"/>
              </a:rPr>
              <a:t> </a:t>
            </a:r>
            <a:r>
              <a:rPr sz="1800" dirty="0" err="1">
                <a:hlinkClick r:id="rId5"/>
              </a:rPr>
              <a:t>GitBook</a:t>
            </a:r>
            <a:r>
              <a:rPr sz="1800" dirty="0"/>
              <a:t>, in particular: </a:t>
            </a:r>
            <a:r>
              <a:rPr sz="1800" dirty="0">
                <a:hlinkClick r:id="rId6"/>
              </a:rPr>
              <a:t>PowerPoint presentation properties</a:t>
            </a:r>
            <a:r>
              <a:rPr sz="1800" dirty="0"/>
              <a:t>; and, </a:t>
            </a:r>
            <a:r>
              <a:rPr sz="1800" dirty="0">
                <a:hlinkClick r:id="rId7"/>
              </a:rPr>
              <a:t>Officer for PowerPoint</a:t>
            </a:r>
          </a:p>
          <a:p>
            <a:pPr lvl="1"/>
            <a:r>
              <a:rPr sz="1800" dirty="0" err="1">
                <a:hlinkClick r:id="rId8"/>
              </a:rPr>
              <a:t>Officedown</a:t>
            </a:r>
            <a:r>
              <a:rPr sz="1800" dirty="0">
                <a:hlinkClick r:id="rId8"/>
              </a:rPr>
              <a:t> Website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Some useful </a:t>
            </a:r>
            <a:r>
              <a:rPr>
                <a:latin typeface="Courier"/>
              </a:rPr>
              <a:t>officer</a:t>
            </a:r>
            <a:r>
              <a:t> functions</a:t>
            </a:r>
          </a:p>
        </p:txBody>
      </p:sp>
      <p:sp>
        <p:nvSpPr>
          <p:cNvPr id="3" name="Content Placeholder 2"/>
          <p:cNvSpPr>
            <a:spLocks noGrp="1"/>
          </p:cNvSpPr>
          <p:nvPr>
            <p:ph sz="half" idx="1"/>
          </p:nvPr>
        </p:nvSpPr>
        <p:spPr/>
        <p:txBody>
          <a:bodyPr/>
          <a:lstStyle/>
          <a:p>
            <a:pPr lvl="0"/>
            <a:r>
              <a:rPr>
                <a:latin typeface="Courier"/>
              </a:rPr>
              <a:t>officer::layout_summary</a:t>
            </a:r>
          </a:p>
          <a:p>
            <a:pPr lvl="1"/>
            <a:r>
              <a:t>This function outputs a dataframe of the constituent slides within the pptx template master.</a:t>
            </a:r>
          </a:p>
          <a:p>
            <a:pPr lvl="1"/>
            <a:r>
              <a:t>The master can be accessed by opening the template in MS PowerPoint and selecting </a:t>
            </a:r>
            <a:r>
              <a:rPr b="1"/>
              <a:t>View</a:t>
            </a:r>
            <a:r>
              <a:t> </a:t>
            </a:r>
            <a14:m xmlns:a14="http://schemas.microsoft.com/office/drawing/2010/main">
              <m:oMath xmlns:m="http://schemas.openxmlformats.org/officeDocument/2006/math">
                <m:r>
                  <a:rPr>
                    <a:latin typeface="Cambria Math" panose="02040503050406030204" pitchFamily="18" charset="0"/>
                  </a:rPr>
                  <m:t>→</m:t>
                </m:r>
              </m:oMath>
            </a14:m>
            <a:r>
              <a:t> Slide Master</a:t>
            </a:r>
          </a:p>
        </p:txBody>
      </p:sp>
      <p:graphicFrame>
        <p:nvGraphicFramePr>
          <p:cNvPr id="6" name="Content Placeholder 5"/>
          <p:cNvGraphicFramePr>
            <a:graphicFrameLocks noGrp="1"/>
          </p:cNvGraphicFramePr>
          <p:nvPr>
            <p:ph idx="1"/>
          </p:nvPr>
        </p:nvGraphicFramePr>
        <p:xfrm>
          <a:off x="6197600" y="1828800"/>
          <a:ext cx="5207000" cy="4389120"/>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20000"/>
                    </a:ext>
                  </a:extLst>
                </a:gridCol>
                <a:gridCol w="2603500">
                  <a:extLst>
                    <a:ext uri="{9D8B030D-6E8A-4147-A177-3AD203B41FA5}">
                      <a16:colId xmlns:a16="http://schemas.microsoft.com/office/drawing/2014/main" val="20001"/>
                    </a:ext>
                  </a:extLst>
                </a:gridCol>
              </a:tblGrid>
              <a:tr h="0">
                <a:tc>
                  <a:txBody>
                    <a:bodyPr/>
                    <a:lstStyle/>
                    <a:p>
                      <a:pPr marL="0" lvl="0" indent="0" algn="l">
                        <a:buNone/>
                      </a:pPr>
                      <a:r>
                        <a:t>layout</a:t>
                      </a:r>
                    </a:p>
                  </a:txBody>
                  <a:tcPr/>
                </a:tc>
                <a:tc>
                  <a:txBody>
                    <a:bodyPr/>
                    <a:lstStyle/>
                    <a:p>
                      <a:pPr marL="0" lvl="0" indent="0" algn="l">
                        <a:buNone/>
                      </a:pPr>
                      <a:r>
                        <a:t>master</a:t>
                      </a:r>
                    </a:p>
                  </a:txBody>
                  <a:tcPr/>
                </a:tc>
                <a:extLst>
                  <a:ext uri="{0D108BD9-81ED-4DB2-BD59-A6C34878D82A}">
                    <a16:rowId xmlns:a16="http://schemas.microsoft.com/office/drawing/2014/main" val="10000"/>
                  </a:ext>
                </a:extLst>
              </a:tr>
              <a:tr h="0">
                <a:tc>
                  <a:txBody>
                    <a:bodyPr/>
                    <a:lstStyle/>
                    <a:p>
                      <a:pPr marL="0" lvl="0" indent="0" algn="l">
                        <a:buNone/>
                      </a:pPr>
                      <a:r>
                        <a:t>Title Slide</a:t>
                      </a:r>
                    </a:p>
                  </a:txBody>
                  <a:tcPr/>
                </a:tc>
                <a:tc>
                  <a:txBody>
                    <a:bodyPr/>
                    <a:lstStyle/>
                    <a:p>
                      <a:pPr marL="0" lvl="0" indent="0" algn="l">
                        <a:buNone/>
                      </a:pPr>
                      <a:r>
                        <a:t>Office Theme</a:t>
                      </a:r>
                    </a:p>
                  </a:txBody>
                  <a:tcPr/>
                </a:tc>
                <a:extLst>
                  <a:ext uri="{0D108BD9-81ED-4DB2-BD59-A6C34878D82A}">
                    <a16:rowId xmlns:a16="http://schemas.microsoft.com/office/drawing/2014/main" val="10001"/>
                  </a:ext>
                </a:extLst>
              </a:tr>
              <a:tr h="0">
                <a:tc>
                  <a:txBody>
                    <a:bodyPr/>
                    <a:lstStyle/>
                    <a:p>
                      <a:pPr marL="0" lvl="0" indent="0" algn="l">
                        <a:buNone/>
                      </a:pPr>
                      <a:r>
                        <a:t>Title and Vertical Text</a:t>
                      </a:r>
                    </a:p>
                  </a:txBody>
                  <a:tcPr/>
                </a:tc>
                <a:tc>
                  <a:txBody>
                    <a:bodyPr/>
                    <a:lstStyle/>
                    <a:p>
                      <a:pPr marL="0" lvl="0" indent="0" algn="l">
                        <a:buNone/>
                      </a:pPr>
                      <a:r>
                        <a:t>Office Theme</a:t>
                      </a:r>
                    </a:p>
                  </a:txBody>
                  <a:tcPr/>
                </a:tc>
                <a:extLst>
                  <a:ext uri="{0D108BD9-81ED-4DB2-BD59-A6C34878D82A}">
                    <a16:rowId xmlns:a16="http://schemas.microsoft.com/office/drawing/2014/main" val="10002"/>
                  </a:ext>
                </a:extLst>
              </a:tr>
              <a:tr h="0">
                <a:tc>
                  <a:txBody>
                    <a:bodyPr/>
                    <a:lstStyle/>
                    <a:p>
                      <a:pPr marL="0" lvl="0" indent="0" algn="l">
                        <a:buNone/>
                      </a:pPr>
                      <a:r>
                        <a:t>Vertical Title and Text</a:t>
                      </a:r>
                    </a:p>
                  </a:txBody>
                  <a:tcPr/>
                </a:tc>
                <a:tc>
                  <a:txBody>
                    <a:bodyPr/>
                    <a:lstStyle/>
                    <a:p>
                      <a:pPr marL="0" lvl="0" indent="0" algn="l">
                        <a:buNone/>
                      </a:pPr>
                      <a:r>
                        <a:t>Office Theme</a:t>
                      </a:r>
                    </a:p>
                  </a:txBody>
                  <a:tcPr/>
                </a:tc>
                <a:extLst>
                  <a:ext uri="{0D108BD9-81ED-4DB2-BD59-A6C34878D82A}">
                    <a16:rowId xmlns:a16="http://schemas.microsoft.com/office/drawing/2014/main" val="10003"/>
                  </a:ext>
                </a:extLst>
              </a:tr>
              <a:tr h="0">
                <a:tc>
                  <a:txBody>
                    <a:bodyPr/>
                    <a:lstStyle/>
                    <a:p>
                      <a:pPr marL="0" lvl="0" indent="0" algn="l">
                        <a:buNone/>
                      </a:pPr>
                      <a:r>
                        <a:t>Title and Content</a:t>
                      </a:r>
                    </a:p>
                  </a:txBody>
                  <a:tcPr/>
                </a:tc>
                <a:tc>
                  <a:txBody>
                    <a:bodyPr/>
                    <a:lstStyle/>
                    <a:p>
                      <a:pPr marL="0" lvl="0" indent="0" algn="l">
                        <a:buNone/>
                      </a:pPr>
                      <a:r>
                        <a:t>Office Theme</a:t>
                      </a:r>
                    </a:p>
                  </a:txBody>
                  <a:tcPr/>
                </a:tc>
                <a:extLst>
                  <a:ext uri="{0D108BD9-81ED-4DB2-BD59-A6C34878D82A}">
                    <a16:rowId xmlns:a16="http://schemas.microsoft.com/office/drawing/2014/main" val="10004"/>
                  </a:ext>
                </a:extLst>
              </a:tr>
              <a:tr h="0">
                <a:tc>
                  <a:txBody>
                    <a:bodyPr/>
                    <a:lstStyle/>
                    <a:p>
                      <a:pPr marL="0" lvl="0" indent="0" algn="l">
                        <a:buNone/>
                      </a:pPr>
                      <a:r>
                        <a:t>Section Header</a:t>
                      </a:r>
                    </a:p>
                  </a:txBody>
                  <a:tcPr/>
                </a:tc>
                <a:tc>
                  <a:txBody>
                    <a:bodyPr/>
                    <a:lstStyle/>
                    <a:p>
                      <a:pPr marL="0" lvl="0" indent="0" algn="l">
                        <a:buNone/>
                      </a:pPr>
                      <a:r>
                        <a:t>Office Theme</a:t>
                      </a:r>
                    </a:p>
                  </a:txBody>
                  <a:tcPr/>
                </a:tc>
                <a:extLst>
                  <a:ext uri="{0D108BD9-81ED-4DB2-BD59-A6C34878D82A}">
                    <a16:rowId xmlns:a16="http://schemas.microsoft.com/office/drawing/2014/main" val="10005"/>
                  </a:ext>
                </a:extLst>
              </a:tr>
              <a:tr h="0">
                <a:tc>
                  <a:txBody>
                    <a:bodyPr/>
                    <a:lstStyle/>
                    <a:p>
                      <a:pPr marL="0" lvl="0" indent="0" algn="l">
                        <a:buNone/>
                      </a:pPr>
                      <a:r>
                        <a:t>Two Content</a:t>
                      </a:r>
                    </a:p>
                  </a:txBody>
                  <a:tcPr/>
                </a:tc>
                <a:tc>
                  <a:txBody>
                    <a:bodyPr/>
                    <a:lstStyle/>
                    <a:p>
                      <a:pPr marL="0" lvl="0" indent="0" algn="l">
                        <a:buNone/>
                      </a:pPr>
                      <a:r>
                        <a:t>Office Theme</a:t>
                      </a:r>
                    </a:p>
                  </a:txBody>
                  <a:tcPr/>
                </a:tc>
                <a:extLst>
                  <a:ext uri="{0D108BD9-81ED-4DB2-BD59-A6C34878D82A}">
                    <a16:rowId xmlns:a16="http://schemas.microsoft.com/office/drawing/2014/main" val="10006"/>
                  </a:ext>
                </a:extLst>
              </a:tr>
              <a:tr h="0">
                <a:tc>
                  <a:txBody>
                    <a:bodyPr/>
                    <a:lstStyle/>
                    <a:p>
                      <a:pPr marL="0" lvl="0" indent="0" algn="l">
                        <a:buNone/>
                      </a:pPr>
                      <a:r>
                        <a:t>Comparison</a:t>
                      </a:r>
                    </a:p>
                  </a:txBody>
                  <a:tcPr/>
                </a:tc>
                <a:tc>
                  <a:txBody>
                    <a:bodyPr/>
                    <a:lstStyle/>
                    <a:p>
                      <a:pPr marL="0" lvl="0" indent="0" algn="l">
                        <a:buNone/>
                      </a:pPr>
                      <a:r>
                        <a:t>Office Theme</a:t>
                      </a:r>
                    </a:p>
                  </a:txBody>
                  <a:tcPr/>
                </a:tc>
                <a:extLst>
                  <a:ext uri="{0D108BD9-81ED-4DB2-BD59-A6C34878D82A}">
                    <a16:rowId xmlns:a16="http://schemas.microsoft.com/office/drawing/2014/main" val="10007"/>
                  </a:ext>
                </a:extLst>
              </a:tr>
              <a:tr h="0">
                <a:tc>
                  <a:txBody>
                    <a:bodyPr/>
                    <a:lstStyle/>
                    <a:p>
                      <a:pPr marL="0" lvl="0" indent="0" algn="l">
                        <a:buNone/>
                      </a:pPr>
                      <a:r>
                        <a:t>Title Only</a:t>
                      </a:r>
                    </a:p>
                  </a:txBody>
                  <a:tcPr/>
                </a:tc>
                <a:tc>
                  <a:txBody>
                    <a:bodyPr/>
                    <a:lstStyle/>
                    <a:p>
                      <a:pPr marL="0" lvl="0" indent="0" algn="l">
                        <a:buNone/>
                      </a:pPr>
                      <a:r>
                        <a:t>Office Theme</a:t>
                      </a:r>
                    </a:p>
                  </a:txBody>
                  <a:tcPr/>
                </a:tc>
                <a:extLst>
                  <a:ext uri="{0D108BD9-81ED-4DB2-BD59-A6C34878D82A}">
                    <a16:rowId xmlns:a16="http://schemas.microsoft.com/office/drawing/2014/main" val="10008"/>
                  </a:ext>
                </a:extLst>
              </a:tr>
              <a:tr h="0">
                <a:tc>
                  <a:txBody>
                    <a:bodyPr/>
                    <a:lstStyle/>
                    <a:p>
                      <a:pPr marL="0" lvl="0" indent="0" algn="l">
                        <a:buNone/>
                      </a:pPr>
                      <a:r>
                        <a:t>Blank</a:t>
                      </a:r>
                    </a:p>
                  </a:txBody>
                  <a:tcPr/>
                </a:tc>
                <a:tc>
                  <a:txBody>
                    <a:bodyPr/>
                    <a:lstStyle/>
                    <a:p>
                      <a:pPr marL="0" lvl="0" indent="0" algn="l">
                        <a:buNone/>
                      </a:pPr>
                      <a:r>
                        <a:t>Office Theme</a:t>
                      </a:r>
                    </a:p>
                  </a:txBody>
                  <a:tcPr/>
                </a:tc>
                <a:extLst>
                  <a:ext uri="{0D108BD9-81ED-4DB2-BD59-A6C34878D82A}">
                    <a16:rowId xmlns:a16="http://schemas.microsoft.com/office/drawing/2014/main" val="10009"/>
                  </a:ext>
                </a:extLst>
              </a:tr>
              <a:tr h="0">
                <a:tc>
                  <a:txBody>
                    <a:bodyPr/>
                    <a:lstStyle/>
                    <a:p>
                      <a:pPr marL="0" lvl="0" indent="0" algn="l">
                        <a:buNone/>
                      </a:pPr>
                      <a:r>
                        <a:t>Content with Caption</a:t>
                      </a:r>
                    </a:p>
                  </a:txBody>
                  <a:tcPr/>
                </a:tc>
                <a:tc>
                  <a:txBody>
                    <a:bodyPr/>
                    <a:lstStyle/>
                    <a:p>
                      <a:pPr marL="0" lvl="0" indent="0" algn="l">
                        <a:buNone/>
                      </a:pPr>
                      <a:r>
                        <a:t>Office Theme</a:t>
                      </a:r>
                    </a:p>
                  </a:txBody>
                  <a:tcPr/>
                </a:tc>
                <a:extLst>
                  <a:ext uri="{0D108BD9-81ED-4DB2-BD59-A6C34878D82A}">
                    <a16:rowId xmlns:a16="http://schemas.microsoft.com/office/drawing/2014/main" val="10010"/>
                  </a:ext>
                </a:extLst>
              </a:tr>
              <a:tr h="0">
                <a:tc>
                  <a:txBody>
                    <a:bodyPr/>
                    <a:lstStyle/>
                    <a:p>
                      <a:pPr marL="0" lvl="0" indent="0" algn="l">
                        <a:buNone/>
                      </a:pPr>
                      <a:r>
                        <a:t>Picture with Caption</a:t>
                      </a:r>
                    </a:p>
                  </a:txBody>
                  <a:tcPr/>
                </a:tc>
                <a:tc>
                  <a:txBody>
                    <a:bodyPr/>
                    <a:lstStyle/>
                    <a:p>
                      <a:pPr marL="0" lvl="0" indent="0" algn="l">
                        <a:buNone/>
                      </a:pPr>
                      <a:r>
                        <a:t>Office Theme</a:t>
                      </a: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sz="half" idx="1"/>
              </p:nvPr>
            </p:nvSpPr>
            <p:spPr>
              <a:xfrm>
                <a:off x="663388" y="1828800"/>
                <a:ext cx="5389940" cy="4352544"/>
              </a:xfrm>
            </p:spPr>
            <p:txBody>
              <a:bodyPr/>
              <a:lstStyle/>
              <a:p>
                <a:pPr lvl="0"/>
                <a:r>
                  <a:rPr dirty="0">
                    <a:latin typeface="Courier"/>
                  </a:rPr>
                  <a:t>officer::</a:t>
                </a:r>
                <a:r>
                  <a:rPr dirty="0" err="1">
                    <a:latin typeface="Courier"/>
                  </a:rPr>
                  <a:t>layout_properties</a:t>
                </a:r>
                <a:endParaRPr dirty="0">
                  <a:latin typeface="Courier"/>
                </a:endParaRPr>
              </a:p>
              <a:p>
                <a:pPr lvl="1"/>
                <a:r>
                  <a:rPr dirty="0"/>
                  <a:t>This function outputs a </a:t>
                </a:r>
                <a:r>
                  <a:rPr dirty="0" err="1"/>
                  <a:t>dataframe</a:t>
                </a:r>
                <a:r>
                  <a:rPr dirty="0"/>
                  <a:t> of the constituent properties within a pptx template master slide.</a:t>
                </a:r>
              </a:p>
              <a:p>
                <a:pPr lvl="1"/>
                <a:r>
                  <a:rPr dirty="0"/>
                  <a:t>The properties can be accessed from within the Slide Master in MS PowerPoint by selecting </a:t>
                </a:r>
                <a:r>
                  <a:rPr b="1" dirty="0"/>
                  <a:t>Home </a:t>
                </a:r>
                <a14:m>
                  <m:oMath xmlns:m="http://schemas.openxmlformats.org/officeDocument/2006/math">
                    <m:r>
                      <a:rPr>
                        <a:latin typeface="Cambria Math" panose="02040503050406030204" pitchFamily="18" charset="0"/>
                      </a:rPr>
                      <m:t>→</m:t>
                    </m:r>
                  </m:oMath>
                </a14:m>
                <a:r>
                  <a:rPr b="1" dirty="0"/>
                  <a:t> Select </a:t>
                </a:r>
                <a14:m>
                  <m:oMath xmlns:m="http://schemas.openxmlformats.org/officeDocument/2006/math">
                    <m:r>
                      <a:rPr>
                        <a:latin typeface="Cambria Math" panose="02040503050406030204" pitchFamily="18" charset="0"/>
                      </a:rPr>
                      <m:t>→</m:t>
                    </m:r>
                  </m:oMath>
                </a14:m>
                <a:r>
                  <a:rPr b="1" dirty="0"/>
                  <a:t> Selection Pane…</a:t>
                </a:r>
              </a:p>
            </p:txBody>
          </p:sp>
        </mc:Choice>
        <mc:Fallback>
          <p:sp>
            <p:nvSpPr>
              <p:cNvPr id="3" name="Content Placeholder 2"/>
              <p:cNvSpPr>
                <a:spLocks noGrp="1" noRot="1" noChangeAspect="1" noMove="1" noResize="1" noEditPoints="1" noAdjustHandles="1" noChangeArrowheads="1" noChangeShapeType="1" noTextEdit="1"/>
              </p:cNvSpPr>
              <p:nvPr>
                <p:ph sz="half" idx="1"/>
              </p:nvPr>
            </p:nvSpPr>
            <p:spPr>
              <a:xfrm>
                <a:off x="663388" y="1828800"/>
                <a:ext cx="5389940" cy="4352544"/>
              </a:xfrm>
              <a:blipFill>
                <a:blip r:embed="rId2"/>
                <a:stretch>
                  <a:fillRect l="-1584" t="-1120" r="-1697"/>
                </a:stretch>
              </a:blipFill>
            </p:spPr>
            <p:txBody>
              <a:bodyPr/>
              <a:lstStyle/>
              <a:p>
                <a:r>
                  <a:rPr lang="en-US">
                    <a:noFill/>
                  </a:rPr>
                  <a:t> </a:t>
                </a:r>
              </a:p>
            </p:txBody>
          </p:sp>
        </mc:Fallback>
      </mc:AlternateContent>
      <p:graphicFrame>
        <p:nvGraphicFramePr>
          <p:cNvPr id="6" name="Content Placeholder 5"/>
          <p:cNvGraphicFramePr>
            <a:graphicFrameLocks noGrp="1"/>
          </p:cNvGraphicFramePr>
          <p:nvPr>
            <p:ph idx="1"/>
            <p:extLst>
              <p:ext uri="{D42A27DB-BD31-4B8C-83A1-F6EECF244321}">
                <p14:modId xmlns:p14="http://schemas.microsoft.com/office/powerpoint/2010/main" val="3516267930"/>
              </p:ext>
            </p:extLst>
          </p:nvPr>
        </p:nvGraphicFramePr>
        <p:xfrm>
          <a:off x="6197600" y="1828800"/>
          <a:ext cx="5277224" cy="3840480"/>
        </p:xfrm>
        <a:graphic>
          <a:graphicData uri="http://schemas.openxmlformats.org/drawingml/2006/table">
            <a:tbl>
              <a:tblPr firstRow="1" bandRow="1">
                <a:tableStyleId>{5C22544A-7EE6-4342-B048-85BDC9FD1C3A}</a:tableStyleId>
              </a:tblPr>
              <a:tblGrid>
                <a:gridCol w="490071">
                  <a:extLst>
                    <a:ext uri="{9D8B030D-6E8A-4147-A177-3AD203B41FA5}">
                      <a16:colId xmlns:a16="http://schemas.microsoft.com/office/drawing/2014/main" val="20000"/>
                    </a:ext>
                  </a:extLst>
                </a:gridCol>
                <a:gridCol w="986117">
                  <a:extLst>
                    <a:ext uri="{9D8B030D-6E8A-4147-A177-3AD203B41FA5}">
                      <a16:colId xmlns:a16="http://schemas.microsoft.com/office/drawing/2014/main" val="20001"/>
                    </a:ext>
                  </a:extLst>
                </a:gridCol>
                <a:gridCol w="995083">
                  <a:extLst>
                    <a:ext uri="{9D8B030D-6E8A-4147-A177-3AD203B41FA5}">
                      <a16:colId xmlns:a16="http://schemas.microsoft.com/office/drawing/2014/main" val="20002"/>
                    </a:ext>
                  </a:extLst>
                </a:gridCol>
                <a:gridCol w="896470">
                  <a:extLst>
                    <a:ext uri="{9D8B030D-6E8A-4147-A177-3AD203B41FA5}">
                      <a16:colId xmlns:a16="http://schemas.microsoft.com/office/drawing/2014/main" val="20003"/>
                    </a:ext>
                  </a:extLst>
                </a:gridCol>
                <a:gridCol w="430306">
                  <a:extLst>
                    <a:ext uri="{9D8B030D-6E8A-4147-A177-3AD203B41FA5}">
                      <a16:colId xmlns:a16="http://schemas.microsoft.com/office/drawing/2014/main" val="20004"/>
                    </a:ext>
                  </a:extLst>
                </a:gridCol>
                <a:gridCol w="1479177">
                  <a:extLst>
                    <a:ext uri="{9D8B030D-6E8A-4147-A177-3AD203B41FA5}">
                      <a16:colId xmlns:a16="http://schemas.microsoft.com/office/drawing/2014/main" val="20005"/>
                    </a:ext>
                  </a:extLst>
                </a:gridCol>
              </a:tblGrid>
              <a:tr h="0">
                <a:tc>
                  <a:txBody>
                    <a:bodyPr/>
                    <a:lstStyle/>
                    <a:p>
                      <a:endParaRPr/>
                    </a:p>
                  </a:txBody>
                  <a:tcPr/>
                </a:tc>
                <a:tc>
                  <a:txBody>
                    <a:bodyPr/>
                    <a:lstStyle/>
                    <a:p>
                      <a:pPr marL="0" lvl="0" indent="0" algn="l">
                        <a:buNone/>
                      </a:pPr>
                      <a:r>
                        <a:t>master_name</a:t>
                      </a:r>
                    </a:p>
                  </a:txBody>
                  <a:tcPr/>
                </a:tc>
                <a:tc>
                  <a:txBody>
                    <a:bodyPr/>
                    <a:lstStyle/>
                    <a:p>
                      <a:pPr marL="0" lvl="0" indent="0" algn="l">
                        <a:buNone/>
                      </a:pPr>
                      <a:r>
                        <a:t>name</a:t>
                      </a:r>
                    </a:p>
                  </a:txBody>
                  <a:tcPr/>
                </a:tc>
                <a:tc>
                  <a:txBody>
                    <a:bodyPr/>
                    <a:lstStyle/>
                    <a:p>
                      <a:pPr marL="0" lvl="0" indent="0" algn="l">
                        <a:buNone/>
                      </a:pPr>
                      <a:r>
                        <a:t>type</a:t>
                      </a:r>
                    </a:p>
                  </a:txBody>
                  <a:tcPr/>
                </a:tc>
                <a:tc>
                  <a:txBody>
                    <a:bodyPr/>
                    <a:lstStyle/>
                    <a:p>
                      <a:pPr marL="0" lvl="0" indent="0" algn="l">
                        <a:buNone/>
                      </a:pPr>
                      <a:r>
                        <a:t>id</a:t>
                      </a:r>
                    </a:p>
                  </a:txBody>
                  <a:tcPr/>
                </a:tc>
                <a:tc>
                  <a:txBody>
                    <a:bodyPr/>
                    <a:lstStyle/>
                    <a:p>
                      <a:pPr marL="0" lvl="0" indent="0" algn="l">
                        <a:buNone/>
                      </a:pPr>
                      <a:r>
                        <a:t>ph_label</a:t>
                      </a:r>
                    </a:p>
                  </a:txBody>
                  <a:tcPr/>
                </a:tc>
                <a:extLst>
                  <a:ext uri="{0D108BD9-81ED-4DB2-BD59-A6C34878D82A}">
                    <a16:rowId xmlns:a16="http://schemas.microsoft.com/office/drawing/2014/main" val="10000"/>
                  </a:ext>
                </a:extLst>
              </a:tr>
              <a:tr h="0">
                <a:tc>
                  <a:txBody>
                    <a:bodyPr/>
                    <a:lstStyle/>
                    <a:p>
                      <a:pPr marL="0" lvl="0" indent="0" algn="l">
                        <a:buNone/>
                      </a:pPr>
                      <a:r>
                        <a:t>1</a:t>
                      </a:r>
                    </a:p>
                  </a:txBody>
                  <a:tcPr/>
                </a:tc>
                <a:tc>
                  <a:txBody>
                    <a:bodyPr/>
                    <a:lstStyle/>
                    <a:p>
                      <a:pPr marL="0" lvl="0" indent="0" algn="l">
                        <a:buNone/>
                      </a:pPr>
                      <a:r>
                        <a:t>Office Theme</a:t>
                      </a:r>
                    </a:p>
                  </a:txBody>
                  <a:tcPr/>
                </a:tc>
                <a:tc>
                  <a:txBody>
                    <a:bodyPr/>
                    <a:lstStyle/>
                    <a:p>
                      <a:pPr marL="0" lvl="0" indent="0" algn="l">
                        <a:buNone/>
                      </a:pPr>
                      <a:r>
                        <a:t>Two Content</a:t>
                      </a:r>
                    </a:p>
                  </a:txBody>
                  <a:tcPr/>
                </a:tc>
                <a:tc>
                  <a:txBody>
                    <a:bodyPr/>
                    <a:lstStyle/>
                    <a:p>
                      <a:pPr marL="0" lvl="0" indent="0" algn="l">
                        <a:buNone/>
                      </a:pPr>
                      <a:r>
                        <a:t>body</a:t>
                      </a:r>
                    </a:p>
                  </a:txBody>
                  <a:tcPr/>
                </a:tc>
                <a:tc>
                  <a:txBody>
                    <a:bodyPr/>
                    <a:lstStyle/>
                    <a:p>
                      <a:pPr marL="0" lvl="0" indent="0" algn="l">
                        <a:buNone/>
                      </a:pPr>
                      <a:r>
                        <a:t>4</a:t>
                      </a:r>
                    </a:p>
                  </a:txBody>
                  <a:tcPr/>
                </a:tc>
                <a:tc>
                  <a:txBody>
                    <a:bodyPr/>
                    <a:lstStyle/>
                    <a:p>
                      <a:pPr marL="0" lvl="0" indent="0" algn="l">
                        <a:buNone/>
                      </a:pPr>
                      <a:r>
                        <a:t>Content Placeholder 3</a:t>
                      </a:r>
                    </a:p>
                  </a:txBody>
                  <a:tcPr/>
                </a:tc>
                <a:extLst>
                  <a:ext uri="{0D108BD9-81ED-4DB2-BD59-A6C34878D82A}">
                    <a16:rowId xmlns:a16="http://schemas.microsoft.com/office/drawing/2014/main" val="10001"/>
                  </a:ext>
                </a:extLst>
              </a:tr>
              <a:tr h="0">
                <a:tc>
                  <a:txBody>
                    <a:bodyPr/>
                    <a:lstStyle/>
                    <a:p>
                      <a:pPr marL="0" lvl="0" indent="0" algn="l">
                        <a:buNone/>
                      </a:pPr>
                      <a:r>
                        <a:t>2</a:t>
                      </a:r>
                    </a:p>
                  </a:txBody>
                  <a:tcPr/>
                </a:tc>
                <a:tc>
                  <a:txBody>
                    <a:bodyPr/>
                    <a:lstStyle/>
                    <a:p>
                      <a:pPr marL="0" lvl="0" indent="0" algn="l">
                        <a:buNone/>
                      </a:pPr>
                      <a:r>
                        <a:t>Office Theme</a:t>
                      </a:r>
                    </a:p>
                  </a:txBody>
                  <a:tcPr/>
                </a:tc>
                <a:tc>
                  <a:txBody>
                    <a:bodyPr/>
                    <a:lstStyle/>
                    <a:p>
                      <a:pPr marL="0" lvl="0" indent="0" algn="l">
                        <a:buNone/>
                      </a:pPr>
                      <a:r>
                        <a:t>Two Content</a:t>
                      </a:r>
                    </a:p>
                  </a:txBody>
                  <a:tcPr/>
                </a:tc>
                <a:tc>
                  <a:txBody>
                    <a:bodyPr/>
                    <a:lstStyle/>
                    <a:p>
                      <a:pPr marL="0" lvl="0" indent="0" algn="l">
                        <a:buNone/>
                      </a:pPr>
                      <a:r>
                        <a:t>body</a:t>
                      </a:r>
                    </a:p>
                  </a:txBody>
                  <a:tcPr/>
                </a:tc>
                <a:tc>
                  <a:txBody>
                    <a:bodyPr/>
                    <a:lstStyle/>
                    <a:p>
                      <a:pPr marL="0" lvl="0" indent="0" algn="l">
                        <a:buNone/>
                      </a:pPr>
                      <a:r>
                        <a:t>3</a:t>
                      </a:r>
                    </a:p>
                  </a:txBody>
                  <a:tcPr/>
                </a:tc>
                <a:tc>
                  <a:txBody>
                    <a:bodyPr/>
                    <a:lstStyle/>
                    <a:p>
                      <a:pPr marL="0" lvl="0" indent="0" algn="l">
                        <a:buNone/>
                      </a:pPr>
                      <a:r>
                        <a:t>Content Placeholder 2</a:t>
                      </a:r>
                    </a:p>
                  </a:txBody>
                  <a:tcPr/>
                </a:tc>
                <a:extLst>
                  <a:ext uri="{0D108BD9-81ED-4DB2-BD59-A6C34878D82A}">
                    <a16:rowId xmlns:a16="http://schemas.microsoft.com/office/drawing/2014/main" val="10002"/>
                  </a:ext>
                </a:extLst>
              </a:tr>
              <a:tr h="0">
                <a:tc>
                  <a:txBody>
                    <a:bodyPr/>
                    <a:lstStyle/>
                    <a:p>
                      <a:pPr marL="0" lvl="0" indent="0" algn="l">
                        <a:buNone/>
                      </a:pPr>
                      <a:r>
                        <a:t>16</a:t>
                      </a:r>
                    </a:p>
                  </a:txBody>
                  <a:tcPr/>
                </a:tc>
                <a:tc>
                  <a:txBody>
                    <a:bodyPr/>
                    <a:lstStyle/>
                    <a:p>
                      <a:pPr marL="0" lvl="0" indent="0" algn="l">
                        <a:buNone/>
                      </a:pPr>
                      <a:r>
                        <a:t>Office Theme</a:t>
                      </a:r>
                    </a:p>
                  </a:txBody>
                  <a:tcPr/>
                </a:tc>
                <a:tc>
                  <a:txBody>
                    <a:bodyPr/>
                    <a:lstStyle/>
                    <a:p>
                      <a:pPr marL="0" lvl="0" indent="0" algn="l">
                        <a:buNone/>
                      </a:pPr>
                      <a:r>
                        <a:t>Two Content</a:t>
                      </a:r>
                    </a:p>
                  </a:txBody>
                  <a:tcPr/>
                </a:tc>
                <a:tc>
                  <a:txBody>
                    <a:bodyPr/>
                    <a:lstStyle/>
                    <a:p>
                      <a:pPr marL="0" lvl="0" indent="0" algn="l">
                        <a:buNone/>
                      </a:pPr>
                      <a:r>
                        <a:t>ftr</a:t>
                      </a:r>
                    </a:p>
                  </a:txBody>
                  <a:tcPr/>
                </a:tc>
                <a:tc>
                  <a:txBody>
                    <a:bodyPr/>
                    <a:lstStyle/>
                    <a:p>
                      <a:pPr marL="0" lvl="0" indent="0" algn="l">
                        <a:buNone/>
                      </a:pPr>
                      <a:r>
                        <a:t>6</a:t>
                      </a:r>
                    </a:p>
                  </a:txBody>
                  <a:tcPr/>
                </a:tc>
                <a:tc>
                  <a:txBody>
                    <a:bodyPr/>
                    <a:lstStyle/>
                    <a:p>
                      <a:pPr marL="0" lvl="0" indent="0" algn="l">
                        <a:buNone/>
                      </a:pPr>
                      <a:r>
                        <a:t>Footer Placeholder 5</a:t>
                      </a:r>
                    </a:p>
                  </a:txBody>
                  <a:tcPr/>
                </a:tc>
                <a:extLst>
                  <a:ext uri="{0D108BD9-81ED-4DB2-BD59-A6C34878D82A}">
                    <a16:rowId xmlns:a16="http://schemas.microsoft.com/office/drawing/2014/main" val="10003"/>
                  </a:ext>
                </a:extLst>
              </a:tr>
              <a:tr h="0">
                <a:tc>
                  <a:txBody>
                    <a:bodyPr/>
                    <a:lstStyle/>
                    <a:p>
                      <a:pPr marL="0" lvl="0" indent="0" algn="l">
                        <a:buNone/>
                      </a:pPr>
                      <a:r>
                        <a:t>23</a:t>
                      </a:r>
                    </a:p>
                  </a:txBody>
                  <a:tcPr/>
                </a:tc>
                <a:tc>
                  <a:txBody>
                    <a:bodyPr/>
                    <a:lstStyle/>
                    <a:p>
                      <a:pPr marL="0" lvl="0" indent="0" algn="l">
                        <a:buNone/>
                      </a:pPr>
                      <a:r>
                        <a:t>Office Theme</a:t>
                      </a:r>
                    </a:p>
                  </a:txBody>
                  <a:tcPr/>
                </a:tc>
                <a:tc>
                  <a:txBody>
                    <a:bodyPr/>
                    <a:lstStyle/>
                    <a:p>
                      <a:pPr marL="0" lvl="0" indent="0" algn="l">
                        <a:buNone/>
                      </a:pPr>
                      <a:r>
                        <a:t>Two Content</a:t>
                      </a:r>
                    </a:p>
                  </a:txBody>
                  <a:tcPr/>
                </a:tc>
                <a:tc>
                  <a:txBody>
                    <a:bodyPr/>
                    <a:lstStyle/>
                    <a:p>
                      <a:pPr marL="0" lvl="0" indent="0" algn="l">
                        <a:buNone/>
                      </a:pPr>
                      <a:r>
                        <a:t>sldNum</a:t>
                      </a:r>
                    </a:p>
                  </a:txBody>
                  <a:tcPr/>
                </a:tc>
                <a:tc>
                  <a:txBody>
                    <a:bodyPr/>
                    <a:lstStyle/>
                    <a:p>
                      <a:pPr marL="0" lvl="0" indent="0" algn="l">
                        <a:buNone/>
                      </a:pPr>
                      <a:r>
                        <a:t>7</a:t>
                      </a:r>
                    </a:p>
                  </a:txBody>
                  <a:tcPr/>
                </a:tc>
                <a:tc>
                  <a:txBody>
                    <a:bodyPr/>
                    <a:lstStyle/>
                    <a:p>
                      <a:pPr marL="0" lvl="0" indent="0" algn="l">
                        <a:buNone/>
                      </a:pPr>
                      <a:r>
                        <a:t>Slide Number Placeholder 6</a:t>
                      </a:r>
                    </a:p>
                  </a:txBody>
                  <a:tcPr/>
                </a:tc>
                <a:extLst>
                  <a:ext uri="{0D108BD9-81ED-4DB2-BD59-A6C34878D82A}">
                    <a16:rowId xmlns:a16="http://schemas.microsoft.com/office/drawing/2014/main" val="10004"/>
                  </a:ext>
                </a:extLst>
              </a:tr>
              <a:tr h="0">
                <a:tc>
                  <a:txBody>
                    <a:bodyPr/>
                    <a:lstStyle/>
                    <a:p>
                      <a:pPr marL="0" lvl="0" indent="0" algn="l">
                        <a:buNone/>
                      </a:pPr>
                      <a:r>
                        <a:t>33</a:t>
                      </a:r>
                    </a:p>
                  </a:txBody>
                  <a:tcPr/>
                </a:tc>
                <a:tc>
                  <a:txBody>
                    <a:bodyPr/>
                    <a:lstStyle/>
                    <a:p>
                      <a:pPr marL="0" lvl="0" indent="0" algn="l">
                        <a:buNone/>
                      </a:pPr>
                      <a:r>
                        <a:t>Office Theme</a:t>
                      </a:r>
                    </a:p>
                  </a:txBody>
                  <a:tcPr/>
                </a:tc>
                <a:tc>
                  <a:txBody>
                    <a:bodyPr/>
                    <a:lstStyle/>
                    <a:p>
                      <a:pPr marL="0" lvl="0" indent="0" algn="l">
                        <a:buNone/>
                      </a:pPr>
                      <a:r>
                        <a:t>Two Content</a:t>
                      </a:r>
                    </a:p>
                  </a:txBody>
                  <a:tcPr/>
                </a:tc>
                <a:tc>
                  <a:txBody>
                    <a:bodyPr/>
                    <a:lstStyle/>
                    <a:p>
                      <a:pPr marL="0" lvl="0" indent="0" algn="l">
                        <a:buNone/>
                      </a:pPr>
                      <a:r>
                        <a:t>title</a:t>
                      </a:r>
                    </a:p>
                  </a:txBody>
                  <a:tcPr/>
                </a:tc>
                <a:tc>
                  <a:txBody>
                    <a:bodyPr/>
                    <a:lstStyle/>
                    <a:p>
                      <a:pPr marL="0" lvl="0" indent="0" algn="l">
                        <a:buNone/>
                      </a:pPr>
                      <a:r>
                        <a:t>2</a:t>
                      </a:r>
                    </a:p>
                  </a:txBody>
                  <a:tcPr/>
                </a:tc>
                <a:tc>
                  <a:txBody>
                    <a:bodyPr/>
                    <a:lstStyle/>
                    <a:p>
                      <a:pPr marL="0" lvl="0" indent="0" algn="l">
                        <a:buNone/>
                      </a:pPr>
                      <a:r>
                        <a:rPr dirty="0"/>
                        <a:t>Title 1</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p>
            <a:pPr marL="0" lvl="0" indent="0">
              <a:buNone/>
            </a:pPr>
            <a:r>
              <a:t>Example Slides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Title and Content</a:t>
            </a:r>
          </a:p>
        </p:txBody>
      </p:sp>
      <p:sp>
        <p:nvSpPr>
          <p:cNvPr id="3" name="Content Placeholder 2"/>
          <p:cNvSpPr>
            <a:spLocks noGrp="1"/>
          </p:cNvSpPr>
          <p:nvPr>
            <p:ph idx="1"/>
          </p:nvPr>
        </p:nvSpPr>
        <p:spPr/>
        <p:txBody>
          <a:bodyPr/>
          <a:lstStyle/>
          <a:p>
            <a:pPr lvl="0"/>
            <a:r>
              <a:t>The “Title Slide” is set using the information in the yaml header.</a:t>
            </a:r>
          </a:p>
          <a:p>
            <a:pPr lvl="0"/>
            <a:r>
              <a:t>The preceding was a “Section Header” slide set with a “# …”.</a:t>
            </a:r>
          </a:p>
          <a:p>
            <a:pPr lvl="0"/>
            <a:r>
              <a:t>This is a “Title and Content” slide containing a bullet list.</a:t>
            </a:r>
          </a:p>
          <a:p>
            <a:pPr lvl="0"/>
            <a:r>
              <a:t>The following is a “Title and Content” slide containing a plot.</a:t>
            </a:r>
          </a:p>
          <a:p>
            <a:pPr lvl="0"/>
            <a:r>
              <a:t>NB – Throughout this section, you can confirm the slide layout by selecting </a:t>
            </a:r>
            <a:r>
              <a:rPr b="1"/>
              <a:t>Home</a:t>
            </a:r>
            <a:r>
              <a:t> </a:t>
            </a:r>
            <a14:m xmlns:a14="http://schemas.microsoft.com/office/drawing/2010/main">
              <m:oMath xmlns:m="http://schemas.openxmlformats.org/officeDocument/2006/math">
                <m:r>
                  <a:rPr>
                    <a:latin typeface="Cambria Math" panose="02040503050406030204" pitchFamily="18" charset="0"/>
                  </a:rPr>
                  <m:t>→</m:t>
                </m:r>
              </m:oMath>
            </a14:m>
            <a:r>
              <a:t> Layout in PowerPoint. Moreover, all slide types are included in the speakers notes.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Title and Content</a:t>
            </a:r>
          </a:p>
        </p:txBody>
      </p:sp>
      <p:pic>
        <p:nvPicPr>
          <p:cNvPr id="3" name="Picture 1" descr="eb_AUS_files/unnamed-chunk-4-1.png"/>
          <p:cNvPicPr>
            <a:picLocks noGrp="1" noChangeAspect="1"/>
          </p:cNvPicPr>
          <p:nvPr/>
        </p:nvPicPr>
        <p:blipFill>
          <a:blip r:embed="rId3"/>
          <a:stretch>
            <a:fillRect/>
          </a:stretch>
        </p:blipFill>
        <p:spPr bwMode="auto">
          <a:xfrm>
            <a:off x="1752600" y="1828800"/>
            <a:ext cx="8686800" cy="4343400"/>
          </a:xfrm>
          <a:prstGeom prst="rect">
            <a:avLst/>
          </a:prstGeom>
          <a:noFill/>
          <a:ln w="9525">
            <a:noFill/>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Two Content</a:t>
            </a:r>
          </a:p>
        </p:txBody>
      </p:sp>
      <p:sp>
        <p:nvSpPr>
          <p:cNvPr id="3" name="Content Placeholder 2"/>
          <p:cNvSpPr>
            <a:spLocks noGrp="1"/>
          </p:cNvSpPr>
          <p:nvPr>
            <p:ph sz="half" idx="1"/>
          </p:nvPr>
        </p:nvSpPr>
        <p:spPr/>
        <p:txBody>
          <a:bodyPr/>
          <a:lstStyle/>
          <a:p>
            <a:pPr lvl="0"/>
            <a:r>
              <a:t>This is a “Two Content” slide.</a:t>
            </a:r>
          </a:p>
          <a:p>
            <a:pPr lvl="0"/>
            <a:r>
              <a:t>It requires a pandoc column layout.</a:t>
            </a:r>
          </a:p>
          <a:p>
            <a:pPr lvl="0"/>
            <a:r>
              <a:t>The following is a “Comparison” slide.</a:t>
            </a:r>
          </a:p>
          <a:p>
            <a:pPr lvl="0"/>
            <a:r>
              <a:t>It requires a pandoc column layout and mixed input in the columns.</a:t>
            </a:r>
          </a:p>
        </p:txBody>
      </p:sp>
      <p:pic>
        <p:nvPicPr>
          <p:cNvPr id="4" name="Picture 1" descr="eb_AUS_files/unnamed-chunk-5-1.png"/>
          <p:cNvPicPr>
            <a:picLocks noGrp="1" noChangeAspect="1"/>
          </p:cNvPicPr>
          <p:nvPr/>
        </p:nvPicPr>
        <p:blipFill>
          <a:blip r:embed="rId3"/>
          <a:stretch>
            <a:fillRect/>
          </a:stretch>
        </p:blipFill>
        <p:spPr bwMode="auto">
          <a:xfrm>
            <a:off x="6197600" y="2692400"/>
            <a:ext cx="5207000" cy="2603500"/>
          </a:xfrm>
          <a:prstGeom prst="rect">
            <a:avLst/>
          </a:prstGeom>
          <a:noFill/>
          <a:ln w="9525">
            <a:noFill/>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Comparison</a:t>
            </a:r>
          </a:p>
        </p:txBody>
      </p:sp>
      <p:sp>
        <p:nvSpPr>
          <p:cNvPr id="3" name="Text Placeholder 2"/>
          <p:cNvSpPr>
            <a:spLocks noGrp="1"/>
          </p:cNvSpPr>
          <p:nvPr>
            <p:ph type="body" idx="1"/>
          </p:nvPr>
        </p:nvSpPr>
        <p:spPr/>
        <p:txBody>
          <a:bodyPr/>
          <a:lstStyle/>
          <a:p>
            <a:pPr marL="0" lvl="0" indent="0">
              <a:buNone/>
            </a:pPr>
            <a:r>
              <a:t>plot</a:t>
            </a:r>
          </a:p>
        </p:txBody>
      </p:sp>
      <p:pic>
        <p:nvPicPr>
          <p:cNvPr id="4" name="Picture 1" descr="eb_AUS_files/unnamed-chunk-6-1.png"/>
          <p:cNvPicPr>
            <a:picLocks noGrp="1" noChangeAspect="1"/>
          </p:cNvPicPr>
          <p:nvPr/>
        </p:nvPicPr>
        <p:blipFill>
          <a:blip r:embed="rId3"/>
          <a:stretch>
            <a:fillRect/>
          </a:stretch>
        </p:blipFill>
        <p:spPr bwMode="auto">
          <a:xfrm>
            <a:off x="838200" y="2997200"/>
            <a:ext cx="5207000" cy="2603500"/>
          </a:xfrm>
          <a:prstGeom prst="rect">
            <a:avLst/>
          </a:prstGeom>
          <a:noFill/>
          <a:ln w="9525">
            <a:noFill/>
            <a:headEnd/>
            <a:tailEnd/>
          </a:ln>
        </p:spPr>
      </p:pic>
      <p:sp>
        <p:nvSpPr>
          <p:cNvPr id="5" name="Text Placeholder 4"/>
          <p:cNvSpPr>
            <a:spLocks noGrp="1"/>
          </p:cNvSpPr>
          <p:nvPr>
            <p:ph type="body" sz="quarter" idx="3"/>
          </p:nvPr>
        </p:nvSpPr>
        <p:spPr/>
        <p:txBody>
          <a:bodyPr/>
          <a:lstStyle/>
          <a:p>
            <a:pPr marL="0" lvl="0" indent="0">
              <a:buNone/>
            </a:pPr>
            <a:r>
              <a:t>ggplot</a:t>
            </a:r>
          </a:p>
        </p:txBody>
      </p:sp>
      <p:pic>
        <p:nvPicPr>
          <p:cNvPr id="6" name="Picture 1" descr="eb_AUS_files/unnamed-chunk-7-1.png"/>
          <p:cNvPicPr>
            <a:picLocks noGrp="1" noChangeAspect="1"/>
          </p:cNvPicPr>
          <p:nvPr/>
        </p:nvPicPr>
        <p:blipFill>
          <a:blip r:embed="rId4"/>
          <a:stretch>
            <a:fillRect/>
          </a:stretch>
        </p:blipFill>
        <p:spPr bwMode="auto">
          <a:xfrm>
            <a:off x="6184900" y="2997200"/>
            <a:ext cx="5207000" cy="2603500"/>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marL="0" lvl="0" indent="0">
              <a:buNone/>
            </a:pPr>
            <a:r>
              <a:t>Content with Caption</a:t>
            </a:r>
          </a:p>
        </p:txBody>
      </p:sp>
      <p:sp>
        <p:nvSpPr>
          <p:cNvPr id="4" name="Text Placeholder 3"/>
          <p:cNvSpPr>
            <a:spLocks noGrp="1"/>
          </p:cNvSpPr>
          <p:nvPr>
            <p:ph type="body" sz="half" idx="2"/>
          </p:nvPr>
        </p:nvSpPr>
        <p:spPr/>
        <p:txBody>
          <a:bodyPr/>
          <a:lstStyle/>
          <a:p>
            <a:pPr marL="0" lvl="0" indent="0">
              <a:buNone/>
            </a:pPr>
            <a:r>
              <a:t>Under pressure</a:t>
            </a:r>
          </a:p>
          <a:p>
            <a:pPr lvl="0"/>
            <a:r>
              <a:t>This is a “Content with Caption” slide.</a:t>
            </a:r>
          </a:p>
        </p:txBody>
      </p:sp>
      <p:pic>
        <p:nvPicPr>
          <p:cNvPr id="3" name="Picture 1" descr="eb_AUS_files/unnamed-chunk-8-1.png"/>
          <p:cNvPicPr>
            <a:picLocks noGrp="1" noChangeAspect="1"/>
          </p:cNvPicPr>
          <p:nvPr/>
        </p:nvPicPr>
        <p:blipFill>
          <a:blip r:embed="rId3"/>
          <a:stretch>
            <a:fillRect/>
          </a:stretch>
        </p:blipFill>
        <p:spPr bwMode="auto">
          <a:xfrm>
            <a:off x="4762500" y="1485900"/>
            <a:ext cx="6807200" cy="3403600"/>
          </a:xfrm>
          <a:prstGeom prst="rect">
            <a:avLst/>
          </a:prstGeom>
          <a:noFill/>
          <a:ln w="9525">
            <a:noFill/>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Background Image</a:t>
            </a:r>
          </a:p>
        </p:txBody>
      </p:sp>
      <p:sp>
        <p:nvSpPr>
          <p:cNvPr id="3" name="Content Placeholder 2"/>
          <p:cNvSpPr>
            <a:spLocks noGrp="1"/>
          </p:cNvSpPr>
          <p:nvPr>
            <p:ph idx="1"/>
          </p:nvPr>
        </p:nvSpPr>
        <p:spPr/>
        <p:txBody>
          <a:bodyPr/>
          <a:lstStyle/>
          <a:p>
            <a:pPr lvl="0"/>
            <a:r>
              <a:t>This is not a slide layout.</a:t>
            </a:r>
          </a:p>
          <a:p>
            <a:pPr lvl="0"/>
            <a:r>
              <a:t>Rather, it is a “Title and Content” slide with a background.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Important Note</a:t>
            </a:r>
          </a:p>
        </p:txBody>
      </p:sp>
      <p:sp>
        <p:nvSpPr>
          <p:cNvPr id="3" name="Content Placeholder 2"/>
          <p:cNvSpPr>
            <a:spLocks noGrp="1"/>
          </p:cNvSpPr>
          <p:nvPr>
            <p:ph idx="1"/>
          </p:nvPr>
        </p:nvSpPr>
        <p:spPr/>
        <p:txBody>
          <a:bodyPr/>
          <a:lstStyle/>
          <a:p>
            <a:pPr lvl="0"/>
            <a:r>
              <a:t>Quarto and pandoc only recognize the slide layouts above.</a:t>
            </a:r>
          </a:p>
          <a:p>
            <a:pPr lvl="0"/>
            <a:r>
              <a:t>This is clear from how the previous “Background Image” slide renders.</a:t>
            </a:r>
          </a:p>
          <a:p>
            <a:pPr lvl="0"/>
            <a:r>
              <a:t>If you desire additional layouts, you can:</a:t>
            </a:r>
          </a:p>
          <a:p>
            <a:pPr marL="914377" lvl="1" indent="-457188">
              <a:buAutoNum type="arabicPeriod"/>
            </a:pPr>
            <a:r>
              <a:t>Add them to the pptx template using in the Master View;</a:t>
            </a:r>
          </a:p>
          <a:p>
            <a:pPr marL="914377" lvl="1" indent="-457188">
              <a:buAutoNum type="arabicPeriod"/>
            </a:pPr>
            <a:r>
              <a:t>Given them each a unique name; and,</a:t>
            </a:r>
          </a:p>
          <a:p>
            <a:pPr marL="914377" lvl="1" indent="-457188">
              <a:buAutoNum type="arabicPeriod"/>
            </a:pPr>
            <a:r>
              <a:t>After rendering, change to new layout manually for each slide within PowerPoint.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p>
            <a:pPr marL="0" lvl="0" indent="0">
              <a:buNone/>
            </a:pPr>
            <a:r>
              <a:t>GII Brief Code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This section is mostly commented out</a:t>
            </a:r>
          </a:p>
        </p:txBody>
      </p:sp>
      <p:sp>
        <p:nvSpPr>
          <p:cNvPr id="3" name="Content Placeholder 2"/>
          <p:cNvSpPr>
            <a:spLocks noGrp="1"/>
          </p:cNvSpPr>
          <p:nvPr>
            <p:ph idx="1"/>
          </p:nvPr>
        </p:nvSpPr>
        <p:spPr/>
        <p:txBody>
          <a:bodyPr/>
          <a:lstStyle/>
          <a:p>
            <a:pPr lvl="0"/>
            <a:r>
              <a:t>To build the presentation:</a:t>
            </a:r>
          </a:p>
          <a:p>
            <a:pPr marL="914377" lvl="1" indent="-457188">
              <a:buAutoNum type="arabicPeriod"/>
            </a:pPr>
            <a:r>
              <a:t>Uncomment the desired sections from the economy briefs below; and,</a:t>
            </a:r>
          </a:p>
          <a:p>
            <a:pPr marL="914377" lvl="1" indent="-457188">
              <a:buAutoNum type="arabicPeriod"/>
            </a:pPr>
            <a:r>
              <a:t>Edit the uncommented code and content such that it renders properly within a pptx.</a:t>
            </a:r>
          </a:p>
          <a:p>
            <a:pPr lvl="0"/>
            <a:r>
              <a:t>An example slide for the bubble plot is provided below.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marL="0" lvl="0" indent="0">
              <a:buNone/>
            </a:pPr>
            <a:r>
              <a:t>EXPECTED VS. OBSERVED INNOVATION PERFORMANCE</a:t>
            </a:r>
          </a:p>
        </p:txBody>
      </p:sp>
      <p:sp>
        <p:nvSpPr>
          <p:cNvPr id="4" name="Text Placeholder 3"/>
          <p:cNvSpPr>
            <a:spLocks noGrp="1"/>
          </p:cNvSpPr>
          <p:nvPr>
            <p:ph type="body" sz="half" idx="2"/>
          </p:nvPr>
        </p:nvSpPr>
        <p:spPr/>
        <p:txBody>
          <a:bodyPr/>
          <a:lstStyle/>
          <a:p>
            <a:pPr marL="0" lvl="0" indent="0">
              <a:buNone/>
            </a:pPr>
            <a:r>
              <a:t>The bubble chart below shows the relationship between income levels (GDP per capita) and innovation performance (GII score). The trend line gives an indication of the expected innovation performance according to income level. Economies appearing above the trend line are performing better than expected and those below are performing below expectations.</a:t>
            </a:r>
          </a:p>
          <a:p>
            <a:pPr marL="0" lvl="0" indent="0">
              <a:buNone/>
            </a:pPr>
            <a:r>
              <a:t>Relative to GDP, Australia’s performance is above expectations for its level of development.</a:t>
            </a:r>
          </a:p>
        </p:txBody>
      </p:sp>
      <p:pic>
        <p:nvPicPr>
          <p:cNvPr id="3" name="Picture 1" descr="eb_AUS_files/bubble-gph-1.png"/>
          <p:cNvPicPr>
            <a:picLocks noGrp="1" noChangeAspect="1"/>
          </p:cNvPicPr>
          <p:nvPr/>
        </p:nvPicPr>
        <p:blipFill>
          <a:blip r:embed="rId2"/>
          <a:stretch>
            <a:fillRect/>
          </a:stretch>
        </p:blipFill>
        <p:spPr bwMode="auto">
          <a:xfrm>
            <a:off x="4762500" y="1422400"/>
            <a:ext cx="6807200" cy="3530600"/>
          </a:xfrm>
          <a:prstGeom prst="rect">
            <a:avLst/>
          </a:prstGeom>
          <a:noFill/>
          <a:ln w="9525">
            <a:noFill/>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843</Words>
  <Application>Microsoft Office PowerPoint</Application>
  <PresentationFormat>Widescreen</PresentationFormat>
  <Paragraphs>139</Paragraphs>
  <Slides>18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Cambria Math</vt:lpstr>
      <vt:lpstr>Courier</vt:lpstr>
      <vt:lpstr>Noto Sans Display</vt:lpstr>
      <vt:lpstr>Noto Sans Display Medium</vt:lpstr>
      <vt:lpstr>Office Theme</vt:lpstr>
      <vt:lpstr>AUSTRALIA</vt:lpstr>
      <vt:lpstr>Instructions</vt:lpstr>
      <vt:lpstr>Notes</vt:lpstr>
      <vt:lpstr>References</vt:lpstr>
      <vt:lpstr>Some useful officer functions</vt:lpstr>
      <vt:lpstr>PowerPoint Presentation</vt:lpstr>
      <vt:lpstr>Example Slides</vt:lpstr>
      <vt:lpstr>Title and Content</vt:lpstr>
      <vt:lpstr>Title and Content</vt:lpstr>
      <vt:lpstr>PowerPoint Presentation</vt:lpstr>
      <vt:lpstr>Two Content</vt:lpstr>
      <vt:lpstr>Comparison</vt:lpstr>
      <vt:lpstr>Content with Caption</vt:lpstr>
      <vt:lpstr>Background Image</vt:lpstr>
      <vt:lpstr>Important Note</vt:lpstr>
      <vt:lpstr>GII Brief Code</vt:lpstr>
      <vt:lpstr>This section is mostly commented out</vt:lpstr>
      <vt:lpstr>EXPECTED VS. OBSERVED INNOVATION PERFORMANCE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307</TotalTime>
  <Words>201</Words>
  <Application>Microsoft Office PowerPoint</Application>
  <PresentationFormat>Widescreen</PresentationFormat>
  <Paragraphs>173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Noto Sans</vt:lpstr>
      <vt:lpstr>Noto Sans Display</vt:lpstr>
      <vt:lpstr>Noto Sans Display Medium</vt:lpstr>
      <vt:lpstr>Office Theme</vt:lpstr>
      <vt:lpstr>UNITED STATES OF AMERICA</vt:lpstr>
      <vt:lpstr>Table</vt:lpstr>
      <vt:lpstr>Slide with plot</vt:lpstr>
      <vt:lpstr>Slide with ggplot</vt:lpstr>
      <vt:lpstr>Slide with ggplot</vt:lpstr>
      <vt:lpstr>Slide with ggplot in left column</vt:lpstr>
      <vt:lpstr>Slide with ggplot in right column</vt:lpstr>
      <vt:lpstr>Slide with ggplot in both columns</vt:lpstr>
      <vt:lpstr>Custom plot locations</vt:lpstr>
      <vt:lpstr>Non-editable plot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AUSTRALIA</dc:title>
  <dc:creator>Jack Gregory;Economist &amp; Data Scientist;Composite Indicator Research Section, WIPO</dc:creator>
  <cp:keywords/>
  <cp:lastModifiedBy>Jack</cp:lastModifiedBy>
  <cp:revision>1</cp:revision>
  <dcterms:created xsi:type="dcterms:W3CDTF">2023-05-05T00:01:16Z</dcterms:created>
  <dcterms:modified xsi:type="dcterms:W3CDTF">2023-05-05T00:04:50Z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params">
    <vt:lpwstr/>
  </property>
  <property fmtid="{D5CDD505-2E9C-101B-9397-08002B2CF9AE}" pid="11" name="subtitle">
    <vt:lpwstr/>
  </property>
  <property fmtid="{D5CDD505-2E9C-101B-9397-08002B2CF9AE}" pid="12" name="toc-title">
    <vt:lpwstr>Table of contents</vt:lpwstr>
  </property>
</Properties>
</file>